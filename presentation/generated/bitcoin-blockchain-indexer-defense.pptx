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0:00-0:20. Представляю тему: это система, которая превращает низкоуровневые данные Bitcoin в управляемый слой хранения и API. На защите я покажу проблему, архитектуру, механизм индексации, тестирование бизнес-функций, замеры производительности и практический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0:20-0:55. Актуальность состоит в том, что Bitcoin Core является доверенным источником данных, но не формирует прикладный слой структурированных представлений: UTXO адресов, историю балансов, фильтрацию mempool и устойчивую выдачу с учетом reorg. Цель ВКР - спроектировать и реализовать систему индексации блокчейн данных, обеспечивающую согласованное хранение и прикладную выдачу данных сети Bitcoin. Для достижения цели решаются шесть задач: анализ предметной области, требования, архитектура, модель данных, реализация модулей и проверка качества с замерами производительности.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0:55-1:35. На слайде приведено сравнение подходов по преимуществам и недостаткам. Bitcoin Core RPC является источником, electrs и Esplora ориентированы на explorer-сценарии, BlockSci - на исследования, Bitcoin ETL - на выгрузки. Следовательно, существующие решения не обеспечивают полного достижения цели и задач ВКР в едином программном комплексе.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1:35-2:05. Требования разделены на функциональные и нефункциональные. Функциональные описывают, какие действия выполняет система: индексацию, UTXO, балансы, mempool, jobs и REST API. Нефункциональные требования описывают качество работы системы и проверяются по статистике испытаний: хвостовая задержка p95 для API, пропускная способность в RPS, доля успешных ответов и наличие метрик наблюдаемости.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2:05-2:40. Архитектурно выбран stateless модульный монолит. Backend-модуль выполняет прикладную логику системы: запускает индексацию, управляет jobs и mempool, а также выдает проиндексированные данные через REST API. Состояние хранится в PostgreSQL, поэтому backend можно перезапускать без потери прогресса.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2:40-3:15. Основной алгоритм представлен обобщенно: определить диапазон обработки, проверить согласованность цепи, нормализовать блокчейн данные и зафиксировать результат в базе. Модель данных разделяет первичные сущности, состояние, управление и наблюдаемость. Mempool не смешивается с подтвержденной цепью.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3:15-3:55. Балансы строятся через UTXO-модель. Каждый новый выход с адресом увеличивает баланс, а каждый вход, который тратит ранее созданный выход, уменьшает баланс владельца этого выхода. После фиксации блока сохраняется актуальное состояние и исторический снимок по высоте блока.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3:55-4:35. При fork или reorg система сравнивает хэши блоков в контрольном окне. Если найдено расхождение, хвост цепи переводится в orphaned, производные состояния очищаются, а UTXO и балансы пересобираются replay-проходом по оставшимся canonical-блокам. Это защищает прикладную выдачу от данных неканонической ветки.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4:35-5:25. Тестирование сфокусировано на бизнес-функциях. Проверены сценарии управления заданиями, прикладной выдачи данных, индексации блоков, расчета UTXO и балансов, обработки mempool и отката при reorg. Результаты фиксируются через ожидаемые HTTP-статусы, JSON-ответы, состояния таблиц и контрольные значения балансов.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5:25-6:05. Для оценки производительности сравнивались прямые Bitcoin Core RPC-запросы и чтение из заранее подготовленного PostgreSQL-индекса. На слайде показана хвостовая задержка p95: она лучше отражает устойчивость ответа при повторяющихся запросах. Профиль нагрузки: 50 прогревочных и 1000 измеряемых запросов на короткий сценарий. Наибольший выигрыш получен для UTXO и балансов адреса.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6:05-6:35. Результаты работы соответствуют шести задачам ВКР: предметная область проанализирована, требования сформированы, архитектура обоснована, модель данных спроектирована, ключевые модули реализованы, качество проверено бизнес-сценариями. QR ведет на GitHub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6:35-7:00. Практическая ценность в том, что система снижает сложность интеграции внешних сервисов с Bitcoin-данными. Она дает нормализованные прикладные ответы и может развиваться в сторону explorer, аналитики, мониторинга и промышленного эксплуатационного контура.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vichv9/Blockchain-Indexer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2E7D6">
              <a:alpha val="76000"/>
            </a:srgbClr>
          </a:solidFill>
          <a:ln w="12700">
            <a:solidFill>
              <a:srgbClr val="F2E7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FFE0AD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ВКР / 7 минут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46720" y="0"/>
            <a:ext cx="109728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7772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BLOCKCHAIN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INDEXER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8368" y="242316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Система индексации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блокчейн данных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94944" y="41605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ВКР бакалавра / М8О-409Б-22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681728"/>
            <a:ext cx="2606040" cy="310896"/>
          </a:xfrm>
          <a:prstGeom prst="roundRect">
            <a:avLst>
              <a:gd name="adj" fmla="val 11765"/>
            </a:avLst>
          </a:prstGeom>
          <a:solidFill>
            <a:srgbClr val="D8C7AE">
              <a:alpha val="92000"/>
            </a:srgbClr>
          </a:solidFill>
          <a:ln w="10160">
            <a:solidFill>
              <a:srgbClr val="D8C7AE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4754880"/>
            <a:ext cx="2386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C243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Ефименко Кирилл Игоревич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3456432" y="4681728"/>
            <a:ext cx="2880360" cy="310896"/>
          </a:xfrm>
          <a:prstGeom prst="roundRect">
            <a:avLst>
              <a:gd name="adj" fmla="val 11765"/>
            </a:avLst>
          </a:prstGeom>
          <a:solidFill>
            <a:srgbClr val="D8C7AE">
              <a:alpha val="92000"/>
            </a:srgbClr>
          </a:solidFill>
          <a:ln w="10160">
            <a:solidFill>
              <a:srgbClr val="D8C7AE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4754880"/>
            <a:ext cx="2660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C243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Rust + PostgreSQL + Bitcoin Core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8549640" y="5321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01.03.02 Прикладная математика и информатика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2E7D6">
              <a:alpha val="76000"/>
            </a:srgbClr>
          </a:solidFill>
          <a:ln w="12700">
            <a:solidFill>
              <a:srgbClr val="F2E7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D8C7AE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 / ПОСТАНОВКА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Актуальность, цель и задачи ВКР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Bitcoin Core остается источником, индексер формирует прикладный слой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6384" y="1920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Актуальность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2221992"/>
            <a:ext cx="48920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Прикладным сервисам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нужен устойчивый слой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структурированных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представлений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786384" y="381304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UTXO, балансы, mempool и reorg требуют нормализации поверх Bitcoin Core RPC.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786384" y="4224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Цель ВКР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" y="4553712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Проектирование и реализация системы индексации блокчейн данных, обеспечивающей согласованное хранение и прикладную выдачу данных сети Bitcoin.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5989320" y="1920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Задачи ВКР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2304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92240" y="2414016"/>
            <a:ext cx="31089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22008" y="2286000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 Bitcoin: UTXO, mempool, reorg</a:t>
            </a:r>
            <a:endParaRPr lang="en-US" sz="1340" dirty="0"/>
          </a:p>
        </p:txBody>
      </p:sp>
      <p:sp>
        <p:nvSpPr>
          <p:cNvPr id="32" name="Text 30"/>
          <p:cNvSpPr/>
          <p:nvPr/>
        </p:nvSpPr>
        <p:spPr>
          <a:xfrm>
            <a:off x="5989320" y="28163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2926080"/>
            <a:ext cx="31089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2798064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требования к API, jobs и надежности</a:t>
            </a:r>
            <a:endParaRPr lang="en-US" sz="1340" dirty="0"/>
          </a:p>
        </p:txBody>
      </p:sp>
      <p:sp>
        <p:nvSpPr>
          <p:cNvPr id="35" name="Text 33"/>
          <p:cNvSpPr/>
          <p:nvPr/>
        </p:nvSpPr>
        <p:spPr>
          <a:xfrm>
            <a:off x="5989320" y="33284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92240" y="3438144"/>
            <a:ext cx="31089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2008" y="3310128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архитектура: Bitcoin Core + PostgreSQL</a:t>
            </a:r>
            <a:endParaRPr lang="en-US" sz="1340" dirty="0"/>
          </a:p>
        </p:txBody>
      </p:sp>
      <p:sp>
        <p:nvSpPr>
          <p:cNvPr id="38" name="Text 36"/>
          <p:cNvSpPr/>
          <p:nvPr/>
        </p:nvSpPr>
        <p:spPr>
          <a:xfrm>
            <a:off x="5989320" y="38404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92240" y="3950208"/>
            <a:ext cx="31089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3822192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 блоков, UTXO и балансов</a:t>
            </a:r>
            <a:endParaRPr lang="en-US" sz="1340" dirty="0"/>
          </a:p>
        </p:txBody>
      </p:sp>
      <p:sp>
        <p:nvSpPr>
          <p:cNvPr id="41" name="Text 39"/>
          <p:cNvSpPr/>
          <p:nvPr/>
        </p:nvSpPr>
        <p:spPr>
          <a:xfrm>
            <a:off x="5989320" y="43525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92240" y="4462272"/>
            <a:ext cx="31089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22008" y="4334256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реализация RPC, indexer, mempool, reorg</a:t>
            </a:r>
            <a:endParaRPr lang="en-US" sz="1340" dirty="0"/>
          </a:p>
        </p:txBody>
      </p:sp>
      <p:sp>
        <p:nvSpPr>
          <p:cNvPr id="44" name="Text 42"/>
          <p:cNvSpPr/>
          <p:nvPr/>
        </p:nvSpPr>
        <p:spPr>
          <a:xfrm>
            <a:off x="5989320" y="4864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06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92240" y="4974336"/>
            <a:ext cx="31089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22008" y="4846320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функций и производительности</a:t>
            </a:r>
            <a:endParaRPr lang="en-US" sz="13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FE0AD">
              <a:alpha val="76000"/>
            </a:srgbClr>
          </a:solidFill>
          <a:ln w="12700">
            <a:solidFill>
              <a:srgbClr val="FFE0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FFE0AD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 / АНАЛИЗ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Сравнение с существующими подходами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Существующие решения не обеспечивают полного достижения цели и задач ВКР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1847088"/>
            <a:ext cx="10927080" cy="384048"/>
          </a:xfrm>
          <a:prstGeom prst="roundRect">
            <a:avLst>
              <a:gd name="adj" fmla="val 4762"/>
            </a:avLst>
          </a:prstGeom>
          <a:solidFill>
            <a:srgbClr val="FFE0AD"/>
          </a:solidFill>
          <a:ln w="9525">
            <a:solidFill>
              <a:srgbClr val="D8C7AE">
                <a:alpha val="76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194767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Подход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63240" y="192024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Преимущества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78040" y="194767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Недостатки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2377440"/>
            <a:ext cx="10927080" cy="420624"/>
          </a:xfrm>
          <a:prstGeom prst="roundRect">
            <a:avLst>
              <a:gd name="adj" fmla="val 434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D8C7AE">
                <a:alpha val="76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247802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Bitcoin Core RPC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3063240" y="245059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канонический источник блоков и транзакций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7178040" y="247802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готовых агрегатов и управления заданиями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685800" y="2907792"/>
            <a:ext cx="10927080" cy="420624"/>
          </a:xfrm>
          <a:prstGeom prst="roundRect">
            <a:avLst>
              <a:gd name="adj" fmla="val 4348"/>
            </a:avLst>
          </a:prstGeom>
          <a:solidFill>
            <a:srgbClr val="F2E7D6">
              <a:alpha val="88000"/>
            </a:srgbClr>
          </a:solidFill>
          <a:ln w="9525">
            <a:solidFill>
              <a:srgbClr val="D8C7AE">
                <a:alpha val="7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3008376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electrs / Esplora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3063240" y="298094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быстрые адресные запросы и explorer API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7178040" y="300837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иная модель хранения, фокус на обозревателе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85800" y="3438144"/>
            <a:ext cx="10927080" cy="420624"/>
          </a:xfrm>
          <a:prstGeom prst="roundRect">
            <a:avLst>
              <a:gd name="adj" fmla="val 434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D8C7AE">
                <a:alpha val="76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353872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BlockSci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3063240" y="351129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аналитическая модель для исследований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7178040" y="353872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является оперативным REST backend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685800" y="3968496"/>
            <a:ext cx="10927080" cy="420624"/>
          </a:xfrm>
          <a:prstGeom prst="roundRect">
            <a:avLst>
              <a:gd name="adj" fmla="val 4348"/>
            </a:avLst>
          </a:prstGeom>
          <a:solidFill>
            <a:srgbClr val="F2E7D6">
              <a:alpha val="88000"/>
            </a:srgbClr>
          </a:solidFill>
          <a:ln w="9525">
            <a:solidFill>
              <a:srgbClr val="D8C7AE">
                <a:alpha val="76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406908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Bitcoin ETL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3063240" y="404164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пакетная выгрузка и подготовка датасетов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7178040" y="406908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постоянного API и жизненного цикла jobs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685800" y="4498848"/>
            <a:ext cx="10927080" cy="420624"/>
          </a:xfrm>
          <a:prstGeom prst="roundRect">
            <a:avLst>
              <a:gd name="adj" fmla="val 434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D8C7AE">
                <a:alpha val="76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459943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Публичные API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3063240" y="457200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быстрый старт без собственного узла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7178040" y="459943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зависимость от внешнего сервиса и лимитов</a:t>
            </a:r>
            <a:endParaRPr lang="en-US" sz="1060" dirty="0"/>
          </a:p>
        </p:txBody>
      </p:sp>
      <p:sp>
        <p:nvSpPr>
          <p:cNvPr id="47" name="Shape 45"/>
          <p:cNvSpPr/>
          <p:nvPr/>
        </p:nvSpPr>
        <p:spPr>
          <a:xfrm>
            <a:off x="685800" y="5029200"/>
            <a:ext cx="10927080" cy="420624"/>
          </a:xfrm>
          <a:prstGeom prst="roundRect">
            <a:avLst>
              <a:gd name="adj" fmla="val 4348"/>
            </a:avLst>
          </a:prstGeom>
          <a:solidFill>
            <a:srgbClr val="F2E7D6">
              <a:alpha val="88000"/>
            </a:srgbClr>
          </a:solidFill>
          <a:ln w="9525">
            <a:solidFill>
              <a:srgbClr val="C86400">
                <a:alpha val="76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7824" y="512978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 ВКР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3063240" y="510235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согласованное хранение в PostgreSQL, прикладной REST API и управляемая индексация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7178040" y="512978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MVP: часть e2e/security-проверок требует развития</a:t>
            </a:r>
            <a:endParaRPr lang="en-US" sz="1060" dirty="0"/>
          </a:p>
        </p:txBody>
      </p:sp>
      <p:sp>
        <p:nvSpPr>
          <p:cNvPr id="51" name="Text 49"/>
          <p:cNvSpPr/>
          <p:nvPr/>
        </p:nvSpPr>
        <p:spPr>
          <a:xfrm>
            <a:off x="822960" y="56875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Вывод: разработка собственного индексирующего слоя обоснована, поскольку существующие подходы не обеспечивают одновременно согласованное хранение, прикладную выдачу данных и управляемость обработки.</a:t>
            </a:r>
            <a:endParaRPr lang="en-US" sz="13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2E7D6">
              <a:alpha val="76000"/>
            </a:srgbClr>
          </a:solidFill>
          <a:ln w="12700">
            <a:solidFill>
              <a:srgbClr val="F2E7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D8C7AE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 / ТРЕБОВАНИЯ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Требования к проектируемой системе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Функциональные и нефункциональные критерии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248" y="2084832"/>
            <a:ext cx="4892040" cy="2395728"/>
          </a:xfrm>
          <a:prstGeom prst="roundRect">
            <a:avLst>
              <a:gd name="adj" fmla="val 1145"/>
            </a:avLst>
          </a:prstGeom>
          <a:solidFill>
            <a:srgbClr val="F2E7D6">
              <a:alpha val="98000"/>
            </a:srgbClr>
          </a:solidFill>
          <a:ln w="14605">
            <a:solidFill>
              <a:srgbClr val="C86400">
                <a:alpha val="8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2231136"/>
            <a:ext cx="38404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39572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Функциональные требования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2779776"/>
            <a:ext cx="456285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индексация блоков, транзакций, входов и выходов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поддержка UTXO, адресных балансов и mempool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управление заданиями индексирования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выдача данных через REST API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144768" y="1993392"/>
            <a:ext cx="4892040" cy="2724912"/>
          </a:xfrm>
          <a:prstGeom prst="roundRect">
            <a:avLst>
              <a:gd name="adj" fmla="val 1007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6B7280">
                <a:alpha val="8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1072" y="2139696"/>
            <a:ext cx="38404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30428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Нефункциональные требования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309360" y="2688336"/>
            <a:ext cx="456285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производительность API: p95 не более 100 мс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адресные запросы: p95 до 45 мс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пропускная способность: не ниже 29 RPS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надежность API: успешность не ниже 99,9%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наблюдаемость: p95, RPS, OK-rate, ошибки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868680" y="532180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Ключевое следствие: качество системы оценивается серией замеров и метрик, а не единичным пользовательским действием.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2E7D6">
              <a:alpha val="76000"/>
            </a:srgbClr>
          </a:solidFill>
          <a:ln w="12700">
            <a:solidFill>
              <a:srgbClr val="F2E7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FFE0AD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 / АРХИТЕКТУРА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решения и стек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Stateless модульный монолит с внешним состоянием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248" y="2423160"/>
            <a:ext cx="1965960" cy="1115568"/>
          </a:xfrm>
          <a:prstGeom prst="roundRect">
            <a:avLst>
              <a:gd name="adj" fmla="val 2459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F7931A">
                <a:alpha val="8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2569464"/>
            <a:ext cx="384048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73405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Bitcoin Core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11810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 блоков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mempool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03320" y="2057400"/>
            <a:ext cx="3429000" cy="1901952"/>
          </a:xfrm>
          <a:prstGeom prst="roundRect">
            <a:avLst>
              <a:gd name="adj" fmla="val 1442"/>
            </a:avLst>
          </a:prstGeom>
          <a:solidFill>
            <a:srgbClr val="F2E7D6">
              <a:alpha val="98000"/>
            </a:srgbClr>
          </a:solidFill>
          <a:ln w="14605">
            <a:solidFill>
              <a:srgbClr val="C86400">
                <a:alpha val="8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9624" y="2203704"/>
            <a:ext cx="38404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23682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Backend-модуль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67912" y="2752344"/>
            <a:ext cx="3099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прикладная логика: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индексация, jobs и mempool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выдача данных через REST API</a:t>
            </a:r>
            <a:endParaRPr lang="en-US" sz="1210" dirty="0"/>
          </a:p>
        </p:txBody>
      </p:sp>
      <p:sp>
        <p:nvSpPr>
          <p:cNvPr id="31" name="Shape 29"/>
          <p:cNvSpPr/>
          <p:nvPr/>
        </p:nvSpPr>
        <p:spPr>
          <a:xfrm>
            <a:off x="8001000" y="2423160"/>
            <a:ext cx="2514600" cy="1325880"/>
          </a:xfrm>
          <a:prstGeom prst="roundRect">
            <a:avLst>
              <a:gd name="adj" fmla="val 2069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2F7D59">
                <a:alpha val="8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47304" y="2569464"/>
            <a:ext cx="384048" cy="0"/>
          </a:xfrm>
          <a:prstGeom prst="line">
            <a:avLst/>
          </a:prstGeom>
          <a:noFill/>
          <a:ln w="25400">
            <a:solidFill>
              <a:srgbClr val="2F7D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65592" y="273405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65592" y="3118104"/>
            <a:ext cx="21854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критическое состояние: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блоки, транзакции, UTXO,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балансы, jobs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950208" y="4590288"/>
            <a:ext cx="2697480" cy="914400"/>
          </a:xfrm>
          <a:prstGeom prst="roundRect">
            <a:avLst>
              <a:gd name="adj" fmla="val 3000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6B7280">
                <a:alpha val="8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96512" y="4736592"/>
            <a:ext cx="38404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490118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Внешние клиенты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4114800" y="5285232"/>
            <a:ext cx="2368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прикладные запросы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управление jobs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2816352" y="2971800"/>
            <a:ext cx="841248" cy="-118872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059168" y="2852928"/>
            <a:ext cx="896112" cy="118872"/>
          </a:xfrm>
          <a:prstGeom prst="line">
            <a:avLst/>
          </a:prstGeom>
          <a:noFill/>
          <a:ln w="17145">
            <a:solidFill>
              <a:srgbClr val="2F7D5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376672" y="3913632"/>
            <a:ext cx="0" cy="640080"/>
          </a:xfrm>
          <a:prstGeom prst="line">
            <a:avLst/>
          </a:prstGeom>
          <a:noFill/>
          <a:ln w="17145">
            <a:solidFill>
              <a:srgbClr val="6B728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FE0AD">
              <a:alpha val="76000"/>
            </a:srgbClr>
          </a:solidFill>
          <a:ln w="12700">
            <a:solidFill>
              <a:srgbClr val="FFE0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D8C7AE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05 / МОДЕЛЬ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Модель данных и алгоритм индексации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Обобщенная схема обработки блокчейн данных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248" y="2240280"/>
            <a:ext cx="2057400" cy="1170432"/>
          </a:xfrm>
          <a:prstGeom prst="roundRect">
            <a:avLst>
              <a:gd name="adj" fmla="val 2344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F7931A">
                <a:alpha val="8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2386584"/>
            <a:ext cx="384048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551176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Определение диапазона</a:t>
            </a:r>
            <a:endParaRPr lang="en-US" sz="1540" dirty="0"/>
          </a:p>
        </p:txBody>
      </p:sp>
      <p:sp>
        <p:nvSpPr>
          <p:cNvPr id="26" name="Text 24"/>
          <p:cNvSpPr/>
          <p:nvPr/>
        </p:nvSpPr>
        <p:spPr>
          <a:xfrm>
            <a:off x="1005840" y="2935224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 цепи и прогресс job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2898648" y="2688336"/>
            <a:ext cx="484632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493008" y="2240280"/>
            <a:ext cx="2057400" cy="1170432"/>
          </a:xfrm>
          <a:prstGeom prst="roundRect">
            <a:avLst>
              <a:gd name="adj" fmla="val 2344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C86400">
                <a:alpha val="8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39312" y="2386584"/>
            <a:ext cx="38404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2551176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Проверка согласованности</a:t>
            </a:r>
            <a:endParaRPr lang="en-US" sz="1540" dirty="0"/>
          </a:p>
        </p:txBody>
      </p:sp>
      <p:sp>
        <p:nvSpPr>
          <p:cNvPr id="31" name="Text 29"/>
          <p:cNvSpPr/>
          <p:nvPr/>
        </p:nvSpPr>
        <p:spPr>
          <a:xfrm>
            <a:off x="3657600" y="2935224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обработка возможного reorg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5550408" y="2688336"/>
            <a:ext cx="484632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44768" y="2240280"/>
            <a:ext cx="2057400" cy="1170432"/>
          </a:xfrm>
          <a:prstGeom prst="roundRect">
            <a:avLst>
              <a:gd name="adj" fmla="val 2344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2F7D59">
                <a:alpha val="8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1072" y="2386584"/>
            <a:ext cx="384048" cy="0"/>
          </a:xfrm>
          <a:prstGeom prst="line">
            <a:avLst/>
          </a:prstGeom>
          <a:noFill/>
          <a:ln w="25400">
            <a:solidFill>
              <a:srgbClr val="2F7D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551176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Нормализация данных</a:t>
            </a:r>
            <a:endParaRPr lang="en-US" sz="1540" dirty="0"/>
          </a:p>
        </p:txBody>
      </p:sp>
      <p:sp>
        <p:nvSpPr>
          <p:cNvPr id="36" name="Text 34"/>
          <p:cNvSpPr/>
          <p:nvPr/>
        </p:nvSpPr>
        <p:spPr>
          <a:xfrm>
            <a:off x="6309360" y="2935224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блоки, транзакции, входы, выходы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8202168" y="2688336"/>
            <a:ext cx="484632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796528" y="2240280"/>
            <a:ext cx="2057400" cy="1170432"/>
          </a:xfrm>
          <a:prstGeom prst="roundRect">
            <a:avLst>
              <a:gd name="adj" fmla="val 2344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6B7280">
                <a:alpha val="8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42832" y="2386584"/>
            <a:ext cx="38404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0" y="2551176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Фиксация результата</a:t>
            </a:r>
            <a:endParaRPr lang="en-US" sz="1540" dirty="0"/>
          </a:p>
        </p:txBody>
      </p:sp>
      <p:sp>
        <p:nvSpPr>
          <p:cNvPr id="41" name="Text 39"/>
          <p:cNvSpPr/>
          <p:nvPr/>
        </p:nvSpPr>
        <p:spPr>
          <a:xfrm>
            <a:off x="8961120" y="2935224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UTXO, балансы, progress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841248" y="4251960"/>
            <a:ext cx="4434840" cy="1325880"/>
          </a:xfrm>
          <a:prstGeom prst="roundRect">
            <a:avLst>
              <a:gd name="adj" fmla="val 2069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2F7D59">
                <a:alpha val="8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7552" y="4398264"/>
            <a:ext cx="384048" cy="0"/>
          </a:xfrm>
          <a:prstGeom prst="line">
            <a:avLst/>
          </a:prstGeom>
          <a:noFill/>
          <a:ln w="25400">
            <a:solidFill>
              <a:srgbClr val="2F7D5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" y="456285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Классы данных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005840" y="4946904"/>
            <a:ext cx="41056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первичные сущности: блоки и транзакции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состояние: UTXO и адресные балансы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управление: jobs и сведения об узлах</a:t>
            </a:r>
            <a:endParaRPr lang="en-US" sz="1140" dirty="0"/>
          </a:p>
        </p:txBody>
      </p:sp>
      <p:sp>
        <p:nvSpPr>
          <p:cNvPr id="46" name="Shape 44"/>
          <p:cNvSpPr/>
          <p:nvPr/>
        </p:nvSpPr>
        <p:spPr>
          <a:xfrm>
            <a:off x="5897880" y="4251960"/>
            <a:ext cx="4434840" cy="1325880"/>
          </a:xfrm>
          <a:prstGeom prst="roundRect">
            <a:avLst>
              <a:gd name="adj" fmla="val 2069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C86400">
                <a:alpha val="8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4184" y="4398264"/>
            <a:ext cx="38404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62472" y="456285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Гарантии обработки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6062472" y="4946904"/>
            <a:ext cx="41056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транзакционная запись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идемпотентность повторной обработки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разделение confirmed, mempool и orphaned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2E7D6">
              <a:alpha val="76000"/>
            </a:srgbClr>
          </a:solidFill>
          <a:ln w="12700">
            <a:solidFill>
              <a:srgbClr val="F2E7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FFE0AD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06 / БАЛАНСЫ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Индексация UTXO и балансов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Баланс адреса строится из изменений входов и выходов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248" y="2176272"/>
            <a:ext cx="2103120" cy="1078992"/>
          </a:xfrm>
          <a:prstGeom prst="roundRect">
            <a:avLst>
              <a:gd name="adj" fmla="val 2542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6B7280">
                <a:alpha val="8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2322576"/>
            <a:ext cx="38404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487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Транзакция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05840" y="287121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входы ссылаются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ранее созданные выходы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3246120" y="2176272"/>
            <a:ext cx="2103120" cy="1078992"/>
          </a:xfrm>
          <a:prstGeom prst="roundRect">
            <a:avLst>
              <a:gd name="adj" fmla="val 2542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F7931A">
                <a:alpha val="8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92424" y="2322576"/>
            <a:ext cx="384048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2487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UTXO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3410712" y="287121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новые выходы: unspent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потраченные: spent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5650992" y="2176272"/>
            <a:ext cx="2103120" cy="1078992"/>
          </a:xfrm>
          <a:prstGeom prst="roundRect">
            <a:avLst>
              <a:gd name="adj" fmla="val 2542"/>
            </a:avLst>
          </a:prstGeom>
          <a:solidFill>
            <a:srgbClr val="F2E7D6">
              <a:alpha val="98000"/>
            </a:srgbClr>
          </a:solidFill>
          <a:ln w="14605">
            <a:solidFill>
              <a:srgbClr val="C86400">
                <a:alpha val="8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97296" y="2322576"/>
            <a:ext cx="38404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15584" y="24871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Баланс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5815584" y="287121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delta(address):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выходы, - входы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8065008" y="2176272"/>
            <a:ext cx="2331720" cy="1078992"/>
          </a:xfrm>
          <a:prstGeom prst="roundRect">
            <a:avLst>
              <a:gd name="adj" fmla="val 2542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2F7D59">
                <a:alpha val="8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1312" y="2322576"/>
            <a:ext cx="384048" cy="0"/>
          </a:xfrm>
          <a:prstGeom prst="line">
            <a:avLst/>
          </a:prstGeom>
          <a:noFill/>
          <a:ln w="25400">
            <a:solidFill>
              <a:srgbClr val="2F7D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2487168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История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8229600" y="2871216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баланса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высоте блока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2944368" y="2706624"/>
            <a:ext cx="256032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349240" y="2706624"/>
            <a:ext cx="246888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754112" y="2706624"/>
            <a:ext cx="274320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68680" y="39136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ПРАВИЛО РАСЧЕТА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96112" y="4471416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9304" y="432511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выход с адресом увеличивает баланс на value_sats</a:t>
            </a:r>
            <a:endParaRPr lang="en-US" sz="1420" dirty="0"/>
          </a:p>
        </p:txBody>
      </p:sp>
      <p:sp>
        <p:nvSpPr>
          <p:cNvPr id="45" name="Shape 43"/>
          <p:cNvSpPr/>
          <p:nvPr/>
        </p:nvSpPr>
        <p:spPr>
          <a:xfrm>
            <a:off x="896112" y="4864608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89304" y="471830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вход тратит найденный UTXO и уменьшает баланс владельца</a:t>
            </a:r>
            <a:endParaRPr lang="en-US" sz="1420" dirty="0"/>
          </a:p>
        </p:txBody>
      </p:sp>
      <p:sp>
        <p:nvSpPr>
          <p:cNvPr id="47" name="Shape 45"/>
          <p:cNvSpPr/>
          <p:nvPr/>
        </p:nvSpPr>
        <p:spPr>
          <a:xfrm>
            <a:off x="896112" y="5257800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89304" y="5111496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блока сохраняется исторический снимок затронутых адресов</a:t>
            </a:r>
            <a:endParaRPr lang="en-US" sz="1420" dirty="0"/>
          </a:p>
        </p:txBody>
      </p:sp>
      <p:sp>
        <p:nvSpPr>
          <p:cNvPr id="49" name="Shape 47"/>
          <p:cNvSpPr/>
          <p:nvPr/>
        </p:nvSpPr>
        <p:spPr>
          <a:xfrm>
            <a:off x="6720840" y="3968496"/>
            <a:ext cx="4160520" cy="1417320"/>
          </a:xfrm>
          <a:prstGeom prst="roundRect">
            <a:avLst>
              <a:gd name="adj" fmla="val 1935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2F7D59">
                <a:alpha val="8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67144" y="4114800"/>
            <a:ext cx="384048" cy="0"/>
          </a:xfrm>
          <a:prstGeom prst="line">
            <a:avLst/>
          </a:prstGeom>
          <a:noFill/>
          <a:ln w="25400">
            <a:solidFill>
              <a:srgbClr val="2F7D5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85432" y="427939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Проверочный сценарий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6885432" y="4663440"/>
            <a:ext cx="38313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0: addr1 = 50 BTC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1: addr1 = 20 BTC, addr2 = 30 BTC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история: 3 снимка балансов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2E7D6">
              <a:alpha val="76000"/>
            </a:srgbClr>
          </a:solidFill>
          <a:ln w="12700">
            <a:solidFill>
              <a:srgbClr val="F2E7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D8C7AE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07 / FORK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Откат состояния при fork/reorg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Новый канонический хэш приводит к пересборке производных данных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248" y="2212848"/>
            <a:ext cx="2331720" cy="1097280"/>
          </a:xfrm>
          <a:prstGeom prst="roundRect">
            <a:avLst>
              <a:gd name="adj" fmla="val 2500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F7931A">
                <a:alpha val="8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2359152"/>
            <a:ext cx="384048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52374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Контрольное окно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05840" y="290779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hash_db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hash_rpc на глубине reorg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3511296" y="2212848"/>
            <a:ext cx="2331720" cy="1097280"/>
          </a:xfrm>
          <a:prstGeom prst="roundRect">
            <a:avLst>
              <a:gd name="adj" fmla="val 2500"/>
            </a:avLst>
          </a:prstGeom>
          <a:solidFill>
            <a:srgbClr val="F2E7D6">
              <a:alpha val="98000"/>
            </a:srgbClr>
          </a:solidFill>
          <a:ln w="14605">
            <a:solidFill>
              <a:srgbClr val="C86400">
                <a:alpha val="8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2359152"/>
            <a:ext cx="38404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5888" y="252374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Точка расхождения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3675888" y="290779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первая высота,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где хэши различаются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81344" y="2212848"/>
            <a:ext cx="2331720" cy="1097280"/>
          </a:xfrm>
          <a:prstGeom prst="roundRect">
            <a:avLst>
              <a:gd name="adj" fmla="val 2500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6B7280">
                <a:alpha val="8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359152"/>
            <a:ext cx="38404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252374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Откат хвоста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345936" y="290779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blocks и transactions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получают status=orphaned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8833104" y="2212848"/>
            <a:ext cx="2331720" cy="1097280"/>
          </a:xfrm>
          <a:prstGeom prst="roundRect">
            <a:avLst>
              <a:gd name="adj" fmla="val 2500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2F7D59">
                <a:alpha val="8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79408" y="2359152"/>
            <a:ext cx="384048" cy="0"/>
          </a:xfrm>
          <a:prstGeom prst="line">
            <a:avLst/>
          </a:prstGeom>
          <a:noFill/>
          <a:ln w="25400">
            <a:solidFill>
              <a:srgbClr val="2F7D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97696" y="252374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Пересборка состояния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8997696" y="290779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UTXO, current balance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history строятся заново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3172968" y="2743200"/>
            <a:ext cx="283464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843016" y="2743200"/>
            <a:ext cx="283464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513064" y="2743200"/>
            <a:ext cx="265176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68680" y="3977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ГАРАНТИИ МЕХАНИЗМА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96112" y="4517136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9304" y="43708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операция выполняется в транзакции PostgreSQL</a:t>
            </a:r>
            <a:endParaRPr lang="en-US" sz="1420" dirty="0"/>
          </a:p>
        </p:txBody>
      </p:sp>
      <p:sp>
        <p:nvSpPr>
          <p:cNvPr id="45" name="Shape 43"/>
          <p:cNvSpPr/>
          <p:nvPr/>
        </p:nvSpPr>
        <p:spPr>
          <a:xfrm>
            <a:off x="896112" y="4910328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89304" y="47640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orphaned-данные не участвуют в прикладной выдаче</a:t>
            </a:r>
            <a:endParaRPr lang="en-US" sz="1420" dirty="0"/>
          </a:p>
        </p:txBody>
      </p:sp>
      <p:sp>
        <p:nvSpPr>
          <p:cNvPr id="47" name="Shape 45"/>
          <p:cNvSpPr/>
          <p:nvPr/>
        </p:nvSpPr>
        <p:spPr>
          <a:xfrm>
            <a:off x="896112" y="5303520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89304" y="515721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балансы восстанавливаются replay-проходом по canonical-блокам</a:t>
            </a:r>
            <a:endParaRPr lang="en-US" sz="1420" dirty="0"/>
          </a:p>
        </p:txBody>
      </p:sp>
      <p:sp>
        <p:nvSpPr>
          <p:cNvPr id="49" name="Shape 47"/>
          <p:cNvSpPr/>
          <p:nvPr/>
        </p:nvSpPr>
        <p:spPr>
          <a:xfrm>
            <a:off x="6903720" y="3886200"/>
            <a:ext cx="4023360" cy="1481328"/>
          </a:xfrm>
          <a:prstGeom prst="roundRect">
            <a:avLst>
              <a:gd name="adj" fmla="val 1852"/>
            </a:avLst>
          </a:prstGeom>
          <a:solidFill>
            <a:srgbClr val="FFFFFF">
              <a:alpha val="98000"/>
            </a:srgbClr>
          </a:solidFill>
          <a:ln w="14605">
            <a:solidFill>
              <a:srgbClr val="F7931A">
                <a:alpha val="8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50024" y="4032504"/>
            <a:ext cx="384048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68312" y="419709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Проверочный сценарий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7068312" y="4581144"/>
            <a:ext cx="36941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RPC возвращает новый hash на высоте 1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старый блок и транзакция становятся orphaned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баланс addr1 восстанавливается до 50 BTC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FE0AD">
              <a:alpha val="76000"/>
            </a:srgbClr>
          </a:solidFill>
          <a:ln w="12700">
            <a:solidFill>
              <a:srgbClr val="FFE0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FFE0AD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08 / КАЧЕСТВО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Тестирование бизнес-функций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Проверялись пользовательские сценарии и состояние данных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1828800"/>
            <a:ext cx="10927080" cy="384048"/>
          </a:xfrm>
          <a:prstGeom prst="roundRect">
            <a:avLst>
              <a:gd name="adj" fmla="val 4286"/>
            </a:avLst>
          </a:prstGeom>
          <a:solidFill>
            <a:srgbClr val="FFE0AD"/>
          </a:solidFill>
          <a:ln w="8890">
            <a:solidFill>
              <a:srgbClr val="D8C7AE">
                <a:alpha val="7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192024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Бизнес-функция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64408" y="1911096"/>
            <a:ext cx="4645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проверено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74152" y="1911096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Достигнутый результат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2267712"/>
            <a:ext cx="10927080" cy="512064"/>
          </a:xfrm>
          <a:prstGeom prst="roundRect">
            <a:avLst>
              <a:gd name="adj" fmla="val 3214"/>
            </a:avLst>
          </a:prstGeom>
          <a:solidFill>
            <a:srgbClr val="FFFFFF">
              <a:alpha val="90000"/>
            </a:srgbClr>
          </a:solidFill>
          <a:ln w="8890">
            <a:solidFill>
              <a:srgbClr val="D8C7AE">
                <a:alpha val="7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2359152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Управление jobs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3264408" y="2350008"/>
            <a:ext cx="4645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list/create/start/pause/resume/stop, auth и invalid transition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8074152" y="2350008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200/201/401/404/409 согласно сценарию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" y="2852928"/>
            <a:ext cx="10927080" cy="512064"/>
          </a:xfrm>
          <a:prstGeom prst="roundRect">
            <a:avLst>
              <a:gd name="adj" fmla="val 3214"/>
            </a:avLst>
          </a:prstGeom>
          <a:solidFill>
            <a:srgbClr val="F2E7D6">
              <a:alpha val="90000"/>
            </a:srgbClr>
          </a:solidFill>
          <a:ln w="8890">
            <a:solidFill>
              <a:srgbClr val="D8C7AE">
                <a:alpha val="7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294436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Выдача данных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3264408" y="2935224"/>
            <a:ext cx="4645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balance, history, UTXO, transactions, mempool, blocks через REST API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8074152" y="2935224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содержит ожидаемые totals, адреса и суммы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" y="3438144"/>
            <a:ext cx="10927080" cy="512064"/>
          </a:xfrm>
          <a:prstGeom prst="roundRect">
            <a:avLst>
              <a:gd name="adj" fmla="val 3214"/>
            </a:avLst>
          </a:prstGeom>
          <a:solidFill>
            <a:srgbClr val="FFFFFF">
              <a:alpha val="90000"/>
            </a:srgbClr>
          </a:solidFill>
          <a:ln w="8890">
            <a:solidFill>
              <a:srgbClr val="D8C7AE">
                <a:alpha val="7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3529584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Индексация блоков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3264408" y="3520440"/>
            <a:ext cx="4645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блока: coinbase 50 BTC и spend на addr1/addr2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8074152" y="3520440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UTXO и балансы: 20 BTC + 30 BTC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" y="4023360"/>
            <a:ext cx="10927080" cy="512064"/>
          </a:xfrm>
          <a:prstGeom prst="roundRect">
            <a:avLst>
              <a:gd name="adj" fmla="val 3214"/>
            </a:avLst>
          </a:prstGeom>
          <a:solidFill>
            <a:srgbClr val="F2E7D6">
              <a:alpha val="90000"/>
            </a:srgbClr>
          </a:solidFill>
          <a:ln w="8890">
            <a:solidFill>
              <a:srgbClr val="D8C7AE">
                <a:alpha val="7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411480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Mempool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3264408" y="4105656"/>
            <a:ext cx="4645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RPC: новая транзакция, затем исчезновение из mempool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8074152" y="4105656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mempool -&gt; dropped; фильтр по адресу работает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5800" y="4608576"/>
            <a:ext cx="10927080" cy="512064"/>
          </a:xfrm>
          <a:prstGeom prst="roundRect">
            <a:avLst>
              <a:gd name="adj" fmla="val 3214"/>
            </a:avLst>
          </a:prstGeom>
          <a:solidFill>
            <a:srgbClr val="FFFFFF">
              <a:alpha val="90000"/>
            </a:srgbClr>
          </a:solidFill>
          <a:ln w="8890">
            <a:solidFill>
              <a:srgbClr val="D8C7AE">
                <a:alpha val="7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700016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Fork/reorg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3264408" y="4690872"/>
            <a:ext cx="4645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RPC возвращает другой hash на высоте 1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8074152" y="4690872"/>
            <a:ext cx="3529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старый хвост orphaned, баланс rebuilt до 50 BTC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22960" y="541324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Вывод: проверка покрывает бизнес-контур индексирования, прикладную выдачу данных и восстановление согласованного состояния после fork.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2E7D6">
              <a:alpha val="76000"/>
            </a:srgbClr>
          </a:solidFill>
          <a:ln w="12700">
            <a:solidFill>
              <a:srgbClr val="F2E7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D8C7AE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09 / ПРОИЗВОДИТЕЛЬНОСТЬ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Замеры производительности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Bitcoin Core RPC и подготовленного PostgreSQL-индекса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1847088"/>
            <a:ext cx="10835640" cy="356616"/>
          </a:xfrm>
          <a:prstGeom prst="roundRect">
            <a:avLst>
              <a:gd name="adj" fmla="val 4615"/>
            </a:avLst>
          </a:prstGeom>
          <a:solidFill>
            <a:srgbClr val="FFE0AD"/>
          </a:solidFill>
          <a:ln w="8890">
            <a:solidFill>
              <a:srgbClr val="D8C7AE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19293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1536192" y="192938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Сценарий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4389120" y="1929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RPC p95, мс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934456" y="19293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Индексер p95, мс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7726680" y="192938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RPS индексера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9244584" y="192938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Ускорение p95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58368" y="2286000"/>
            <a:ext cx="10835640" cy="356616"/>
          </a:xfrm>
          <a:prstGeom prst="roundRect">
            <a:avLst>
              <a:gd name="adj" fmla="val 4615"/>
            </a:avLst>
          </a:prstGeom>
          <a:solidFill>
            <a:srgbClr val="FFFFFF">
              <a:alpha val="90000"/>
            </a:srgbClr>
          </a:solidFill>
          <a:ln w="8890">
            <a:solidFill>
              <a:srgbClr val="D8C7AE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23682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C1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1536192" y="236829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состояние цепи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389120" y="23682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85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5934456" y="236829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18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7726680" y="236829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125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9244584" y="236829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4,7x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658368" y="2724912"/>
            <a:ext cx="10835640" cy="356616"/>
          </a:xfrm>
          <a:prstGeom prst="roundRect">
            <a:avLst>
              <a:gd name="adj" fmla="val 4615"/>
            </a:avLst>
          </a:prstGeom>
          <a:solidFill>
            <a:srgbClr val="F2E7D6">
              <a:alpha val="90000"/>
            </a:srgbClr>
          </a:solidFill>
          <a:ln w="8890">
            <a:solidFill>
              <a:srgbClr val="D8C7AE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2807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C2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536192" y="280720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блок по хэшу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4389120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480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5934456" y="28072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82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7726680" y="28072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29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9244584" y="28072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5,9x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658368" y="3163824"/>
            <a:ext cx="10835640" cy="356616"/>
          </a:xfrm>
          <a:prstGeom prst="roundRect">
            <a:avLst>
              <a:gd name="adj" fmla="val 4615"/>
            </a:avLst>
          </a:prstGeom>
          <a:solidFill>
            <a:srgbClr val="FFFFFF">
              <a:alpha val="90000"/>
            </a:srgbClr>
          </a:solidFill>
          <a:ln w="8890">
            <a:solidFill>
              <a:srgbClr val="D8C7AE">
                <a:alpha val="7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" y="32461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C3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1536192" y="324612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транзакция по txid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4389120" y="32461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230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5934456" y="324612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27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7726680" y="32461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83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9244584" y="32461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8,5x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658368" y="3602736"/>
            <a:ext cx="10835640" cy="356616"/>
          </a:xfrm>
          <a:prstGeom prst="roundRect">
            <a:avLst>
              <a:gd name="adj" fmla="val 4615"/>
            </a:avLst>
          </a:prstGeom>
          <a:solidFill>
            <a:srgbClr val="F2E7D6">
              <a:alpha val="90000"/>
            </a:srgbClr>
          </a:solidFill>
          <a:ln w="8890">
            <a:solidFill>
              <a:srgbClr val="D8C7AE">
                <a:alpha val="7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" y="36850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C4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1536192" y="368503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UTXO адреса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4389120" y="36850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420000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5934456" y="36850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45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7726680" y="368503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55</a:t>
            </a:r>
            <a:endParaRPr lang="en-US" sz="960" dirty="0"/>
          </a:p>
        </p:txBody>
      </p:sp>
      <p:sp>
        <p:nvSpPr>
          <p:cNvPr id="57" name="Text 55"/>
          <p:cNvSpPr/>
          <p:nvPr/>
        </p:nvSpPr>
        <p:spPr>
          <a:xfrm>
            <a:off x="9244584" y="368503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9333x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658368" y="4041648"/>
            <a:ext cx="10835640" cy="356616"/>
          </a:xfrm>
          <a:prstGeom prst="roundRect">
            <a:avLst>
              <a:gd name="adj" fmla="val 4615"/>
            </a:avLst>
          </a:prstGeom>
          <a:solidFill>
            <a:srgbClr val="FFFFFF">
              <a:alpha val="90000"/>
            </a:srgbClr>
          </a:solidFill>
          <a:ln w="8890">
            <a:solidFill>
              <a:srgbClr val="D8C7AE">
                <a:alpha val="7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" y="41239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C5</a:t>
            </a:r>
            <a:endParaRPr lang="en-US" sz="960" dirty="0"/>
          </a:p>
        </p:txBody>
      </p:sp>
      <p:sp>
        <p:nvSpPr>
          <p:cNvPr id="60" name="Text 58"/>
          <p:cNvSpPr/>
          <p:nvPr/>
        </p:nvSpPr>
        <p:spPr>
          <a:xfrm>
            <a:off x="1536192" y="412394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баланс адреса</a:t>
            </a:r>
            <a:endParaRPr lang="en-US" sz="960" dirty="0"/>
          </a:p>
        </p:txBody>
      </p:sp>
      <p:sp>
        <p:nvSpPr>
          <p:cNvPr id="61" name="Text 59"/>
          <p:cNvSpPr/>
          <p:nvPr/>
        </p:nvSpPr>
        <p:spPr>
          <a:xfrm>
            <a:off x="4389120" y="412394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120000</a:t>
            </a:r>
            <a:endParaRPr lang="en-US" sz="960" dirty="0"/>
          </a:p>
        </p:txBody>
      </p:sp>
      <p:sp>
        <p:nvSpPr>
          <p:cNvPr id="62" name="Text 60"/>
          <p:cNvSpPr/>
          <p:nvPr/>
        </p:nvSpPr>
        <p:spPr>
          <a:xfrm>
            <a:off x="5934456" y="41239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24</a:t>
            </a:r>
            <a:endParaRPr lang="en-US" sz="960" dirty="0"/>
          </a:p>
        </p:txBody>
      </p:sp>
      <p:sp>
        <p:nvSpPr>
          <p:cNvPr id="63" name="Text 61"/>
          <p:cNvSpPr/>
          <p:nvPr/>
        </p:nvSpPr>
        <p:spPr>
          <a:xfrm>
            <a:off x="7726680" y="412394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111</a:t>
            </a:r>
            <a:endParaRPr lang="en-US" sz="960" dirty="0"/>
          </a:p>
        </p:txBody>
      </p:sp>
      <p:sp>
        <p:nvSpPr>
          <p:cNvPr id="64" name="Text 62"/>
          <p:cNvSpPr/>
          <p:nvPr/>
        </p:nvSpPr>
        <p:spPr>
          <a:xfrm>
            <a:off x="9244584" y="412394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5000x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658368" y="4480560"/>
            <a:ext cx="10835640" cy="356616"/>
          </a:xfrm>
          <a:prstGeom prst="roundRect">
            <a:avLst>
              <a:gd name="adj" fmla="val 4615"/>
            </a:avLst>
          </a:prstGeom>
          <a:solidFill>
            <a:srgbClr val="F2E7D6">
              <a:alpha val="90000"/>
            </a:srgbClr>
          </a:solidFill>
          <a:ln w="8890">
            <a:solidFill>
              <a:srgbClr val="D8C7AE">
                <a:alpha val="7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6384" y="456285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C6</a:t>
            </a:r>
            <a:endParaRPr lang="en-US" sz="960" dirty="0"/>
          </a:p>
        </p:txBody>
      </p:sp>
      <p:sp>
        <p:nvSpPr>
          <p:cNvPr id="67" name="Text 65"/>
          <p:cNvSpPr/>
          <p:nvPr/>
        </p:nvSpPr>
        <p:spPr>
          <a:xfrm>
            <a:off x="1536192" y="456285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mempool по адресу</a:t>
            </a:r>
            <a:endParaRPr lang="en-US" sz="960" dirty="0"/>
          </a:p>
        </p:txBody>
      </p:sp>
      <p:sp>
        <p:nvSpPr>
          <p:cNvPr id="68" name="Text 66"/>
          <p:cNvSpPr/>
          <p:nvPr/>
        </p:nvSpPr>
        <p:spPr>
          <a:xfrm>
            <a:off x="4389120" y="45628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9000</a:t>
            </a:r>
            <a:endParaRPr lang="en-US" sz="960" dirty="0"/>
          </a:p>
        </p:txBody>
      </p:sp>
      <p:sp>
        <p:nvSpPr>
          <p:cNvPr id="69" name="Text 67"/>
          <p:cNvSpPr/>
          <p:nvPr/>
        </p:nvSpPr>
        <p:spPr>
          <a:xfrm>
            <a:off x="5934456" y="456285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55</a:t>
            </a:r>
            <a:endParaRPr lang="en-US" sz="960" dirty="0"/>
          </a:p>
        </p:txBody>
      </p:sp>
      <p:sp>
        <p:nvSpPr>
          <p:cNvPr id="70" name="Text 68"/>
          <p:cNvSpPr/>
          <p:nvPr/>
        </p:nvSpPr>
        <p:spPr>
          <a:xfrm>
            <a:off x="7726680" y="45628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50</a:t>
            </a:r>
            <a:endParaRPr lang="en-US" sz="960" dirty="0"/>
          </a:p>
        </p:txBody>
      </p:sp>
      <p:sp>
        <p:nvSpPr>
          <p:cNvPr id="71" name="Text 69"/>
          <p:cNvSpPr/>
          <p:nvPr/>
        </p:nvSpPr>
        <p:spPr>
          <a:xfrm>
            <a:off x="9244584" y="45628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164x</a:t>
            </a:r>
            <a:endParaRPr lang="en-US" sz="960" dirty="0"/>
          </a:p>
        </p:txBody>
      </p:sp>
      <p:sp>
        <p:nvSpPr>
          <p:cNvPr id="72" name="Text 70"/>
          <p:cNvSpPr/>
          <p:nvPr/>
        </p:nvSpPr>
        <p:spPr>
          <a:xfrm>
            <a:off x="804672" y="5230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7B8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50+1000</a:t>
            </a:r>
            <a:endParaRPr lang="en-US" sz="3400" dirty="0"/>
          </a:p>
        </p:txBody>
      </p:sp>
      <p:sp>
        <p:nvSpPr>
          <p:cNvPr id="73" name="Text 71"/>
          <p:cNvSpPr/>
          <p:nvPr/>
        </p:nvSpPr>
        <p:spPr>
          <a:xfrm>
            <a:off x="804672" y="57607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warm-up и измеряемые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запросы на сценарий</a:t>
            </a:r>
            <a:endParaRPr lang="en-US" sz="840" dirty="0"/>
          </a:p>
        </p:txBody>
      </p:sp>
      <p:sp>
        <p:nvSpPr>
          <p:cNvPr id="74" name="Text 72"/>
          <p:cNvSpPr/>
          <p:nvPr/>
        </p:nvSpPr>
        <p:spPr>
          <a:xfrm>
            <a:off x="2724912" y="5230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7D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99,9%</a:t>
            </a:r>
            <a:endParaRPr lang="en-US" sz="3400" dirty="0"/>
          </a:p>
        </p:txBody>
      </p:sp>
      <p:sp>
        <p:nvSpPr>
          <p:cNvPr id="75" name="Text 73"/>
          <p:cNvSpPr/>
          <p:nvPr/>
        </p:nvSpPr>
        <p:spPr>
          <a:xfrm>
            <a:off x="2724912" y="57607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успешность API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индексера</a:t>
            </a:r>
            <a:endParaRPr lang="en-US" sz="840" dirty="0"/>
          </a:p>
        </p:txBody>
      </p:sp>
      <p:sp>
        <p:nvSpPr>
          <p:cNvPr id="76" name="Text 74"/>
          <p:cNvSpPr/>
          <p:nvPr/>
        </p:nvSpPr>
        <p:spPr>
          <a:xfrm>
            <a:off x="4645152" y="5230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93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C4/C5</a:t>
            </a:r>
            <a:endParaRPr lang="en-US" sz="3400" dirty="0"/>
          </a:p>
        </p:txBody>
      </p:sp>
      <p:sp>
        <p:nvSpPr>
          <p:cNvPr id="77" name="Text 75"/>
          <p:cNvSpPr/>
          <p:nvPr/>
        </p:nvSpPr>
        <p:spPr>
          <a:xfrm>
            <a:off x="4645152" y="57607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максимальный выигрыш: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E4A5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UTXO и балансы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6720840" y="532180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Вывод: заранее построенный индекс снижает задержку там, где RPC выполняет сканирование или возвращает данные для клиентской фильтрации.</a:t>
            </a:r>
            <a:endParaRPr lang="en-US" sz="1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2E7D6">
              <a:alpha val="76000"/>
            </a:srgbClr>
          </a:solidFill>
          <a:ln w="12700">
            <a:solidFill>
              <a:srgbClr val="F2E7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FFE0AD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 / РЕЗУЛЬТАТ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Результаты работы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Количество результатов соответствует количеству задач ВКР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202996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Bitcoin Blockchain Indexer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896112" y="2889504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9304" y="2743200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предметная область и аналоги проанализированы</a:t>
            </a:r>
            <a:endParaRPr lang="en-US" sz="1410" dirty="0"/>
          </a:p>
        </p:txBody>
      </p:sp>
      <p:sp>
        <p:nvSpPr>
          <p:cNvPr id="26" name="Shape 24"/>
          <p:cNvSpPr/>
          <p:nvPr/>
        </p:nvSpPr>
        <p:spPr>
          <a:xfrm>
            <a:off x="896112" y="3236976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9304" y="309067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требования к системе сформированы</a:t>
            </a:r>
            <a:endParaRPr lang="en-US" sz="1410" dirty="0"/>
          </a:p>
        </p:txBody>
      </p:sp>
      <p:sp>
        <p:nvSpPr>
          <p:cNvPr id="28" name="Shape 26"/>
          <p:cNvSpPr/>
          <p:nvPr/>
        </p:nvSpPr>
        <p:spPr>
          <a:xfrm>
            <a:off x="896112" y="3584448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3438144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 stateless модульного монолита обоснована</a:t>
            </a:r>
            <a:endParaRPr lang="en-US" sz="1410" dirty="0"/>
          </a:p>
        </p:txBody>
      </p:sp>
      <p:sp>
        <p:nvSpPr>
          <p:cNvPr id="30" name="Shape 28"/>
          <p:cNvSpPr/>
          <p:nvPr/>
        </p:nvSpPr>
        <p:spPr>
          <a:xfrm>
            <a:off x="896112" y="3931920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9304" y="3785616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 данных PostgreSQL спроектирована</a:t>
            </a:r>
            <a:endParaRPr lang="en-US" sz="1410" dirty="0"/>
          </a:p>
        </p:txBody>
      </p:sp>
      <p:sp>
        <p:nvSpPr>
          <p:cNvPr id="32" name="Shape 30"/>
          <p:cNvSpPr/>
          <p:nvPr/>
        </p:nvSpPr>
        <p:spPr>
          <a:xfrm>
            <a:off x="896112" y="4279392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9304" y="4133088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 модули индексатора и API реализованы</a:t>
            </a:r>
            <a:endParaRPr lang="en-US" sz="1410" dirty="0"/>
          </a:p>
        </p:txBody>
      </p:sp>
      <p:sp>
        <p:nvSpPr>
          <p:cNvPr id="34" name="Shape 32"/>
          <p:cNvSpPr/>
          <p:nvPr/>
        </p:nvSpPr>
        <p:spPr>
          <a:xfrm>
            <a:off x="896112" y="4626864"/>
            <a:ext cx="292608" cy="0"/>
          </a:xfrm>
          <a:prstGeom prst="line">
            <a:avLst/>
          </a:prstGeom>
          <a:noFill/>
          <a:ln w="25400">
            <a:solidFill>
              <a:srgbClr val="C86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9304" y="4480560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проверено бизнес-сценариями</a:t>
            </a:r>
            <a:endParaRPr lang="en-US" sz="1410" dirty="0"/>
          </a:p>
        </p:txBody>
      </p:sp>
      <p:sp>
        <p:nvSpPr>
          <p:cNvPr id="36" name="Text 34"/>
          <p:cNvSpPr/>
          <p:nvPr/>
        </p:nvSpPr>
        <p:spPr>
          <a:xfrm>
            <a:off x="896112" y="52303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93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github.com/vivichv9/Blockchain-Indexer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452360" y="1600200"/>
            <a:ext cx="2971800" cy="2971800"/>
          </a:xfrm>
          <a:prstGeom prst="roundRect">
            <a:avLst>
              <a:gd name="adj" fmla="val 923"/>
            </a:avLst>
          </a:prstGeom>
          <a:solidFill>
            <a:srgbClr val="FFFFFF"/>
          </a:solidFill>
          <a:ln w="15240">
            <a:solidFill>
              <a:srgbClr val="F7931A"/>
            </a:solidFill>
            <a:prstDash val="solid"/>
          </a:ln>
        </p:spPr>
      </p:sp>
      <p:pic>
        <p:nvPicPr>
          <p:cNvPr id="38" name="Image 0" descr="D:\Users\Кирилл\Documents\Blockchain-Indexer\diploma\inc\github_qr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4" y="1792224"/>
            <a:ext cx="2578608" cy="2578608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7818120" y="489204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FFE0AD">
              <a:alpha val="92000"/>
            </a:srgbClr>
          </a:solidFill>
          <a:ln w="10160">
            <a:solidFill>
              <a:srgbClr val="D8C7AE">
                <a:alpha val="6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27848" y="4965192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C243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QR на GitHub</a:t>
            </a:r>
            <a:endParaRPr lang="en-US" sz="8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60120" y="-228600"/>
            <a:ext cx="5212080" cy="7315200"/>
          </a:xfrm>
          <a:prstGeom prst="parallelogram">
            <a:avLst/>
          </a:prstGeom>
          <a:solidFill>
            <a:srgbClr val="FFE0AD">
              <a:alpha val="76000"/>
            </a:srgbClr>
          </a:solidFill>
          <a:ln w="12700">
            <a:solidFill>
              <a:srgbClr val="FFE0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457200"/>
            <a:ext cx="4023360" cy="7589520"/>
          </a:xfrm>
          <a:prstGeom prst="parallelogram">
            <a:avLst/>
          </a:prstGeom>
          <a:solidFill>
            <a:srgbClr val="D8C7AE">
              <a:alpha val="56000"/>
            </a:srgbClr>
          </a:solidFill>
          <a:ln w="12700">
            <a:solidFill>
              <a:srgbClr val="D8C7A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B6A68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17145">
            <a:solidFill>
              <a:srgbClr val="F793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6437376"/>
            <a:ext cx="1106424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6245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6245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B8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BITCOIN BLOCKCHAIN INDEXER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21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11 / ЗНАЧИМОСТЬ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9418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Практическая значимость проекта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" y="15179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E4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Прикладной слой данных поверх Bitcoin Core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20574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Нормализованные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данные вместо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низкоуровневых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RPC-ответов</a:t>
            </a:r>
            <a:endParaRPr lang="en-US" sz="2900" dirty="0"/>
          </a:p>
        </p:txBody>
      </p:sp>
      <p:sp>
        <p:nvSpPr>
          <p:cNvPr id="24" name="Text 22"/>
          <p:cNvSpPr/>
          <p:nvPr/>
        </p:nvSpPr>
        <p:spPr>
          <a:xfrm>
            <a:off x="6263640" y="1901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864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ANALYTICS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0" y="1874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исследование и мониторинг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2212848"/>
            <a:ext cx="438912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651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EXPLORER BACKEND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0" y="2624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выдача блоков и транзакций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63640" y="2962656"/>
            <a:ext cx="438912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401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WALLET SERVICES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0" y="33741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UTXO и адресные балансы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3712464"/>
            <a:ext cx="438912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41513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0" y="41239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jobs, logs, metrics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63640" y="4462272"/>
            <a:ext cx="4389120" cy="0"/>
          </a:xfrm>
          <a:prstGeom prst="line">
            <a:avLst/>
          </a:prstGeom>
          <a:noFill/>
          <a:ln w="12700">
            <a:solidFill>
              <a:srgbClr val="D8C7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41324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Дальше: полный regtest e2e, усиление security-контура, расширение метрик, оптимизация запросов.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МАИ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индексации блокчейн данных</dc:title>
  <dc:subject>Защита ВКР</dc:subject>
  <dc:creator>Ефименко Кирилл Игоревич</dc:creator>
  <cp:lastModifiedBy>Ефименко Кирилл Игоревич</cp:lastModifiedBy>
  <cp:revision>1</cp:revision>
  <dcterms:created xsi:type="dcterms:W3CDTF">2026-05-12T19:56:48Z</dcterms:created>
  <dcterms:modified xsi:type="dcterms:W3CDTF">2026-05-12T19:56:48Z</dcterms:modified>
</cp:coreProperties>
</file>